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A78D6"/>
                </a:solidFill>
              </a:defRPr>
            </a:pPr>
            <a:r>
              <a:t>Experiment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A1A19"/>
                </a:solidFill>
              </a:defRPr>
            </a:pPr>
            <a:r>
              <a:t>Emerging BI Technologies and Their Applications in Future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B6B66"/>
                </a:solidFill>
              </a:defRPr>
            </a:pPr>
            <a:r>
              <a:t>BIA Laboratory (E1CSC25703) · UCI Online Retail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Aim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Investigate emerging BI technologies and show their use in a future retail scenario: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• AI-driven analytics – segmentation, key influencers, anomalies, forecast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• Cloud BI – Power BI Service publishing and sharing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• Real-time BI – simulated live sales feed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• Advanced visualization – interactive dashboards, map, treemap, heat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Dataset and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B6B66"/>
                </a:solidFill>
              </a:defRPr>
            </a:pPr>
            <a:r>
              <a:t>541,909 transactions · Dec 2010 – 9 Dec 2011 · UK online retailer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• Cancelled invoices removed: 9,288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• Non-positive quantity/price removed: 10,624 / 2,517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• Missing CustomerID: 135,080 (kept for sales, excluded from RFM)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• Duplicates removed: 5,268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• Rows analysed: 522,713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• SalesAmount = Quantity × UnitPrice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Traditional BI – KPIs and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6B66"/>
                </a:solidFill>
              </a:defRPr>
            </a:pPr>
            <a:r>
              <a:t>Total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A78D6"/>
                </a:solidFill>
              </a:defRPr>
            </a:pPr>
            <a:r>
              <a:t>£10.25M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6B66"/>
                </a:solidFill>
              </a:defRPr>
            </a:pPr>
            <a:r>
              <a:t>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A78D6"/>
                </a:solidFill>
              </a:defRPr>
            </a:pPr>
            <a:r>
              <a:t>19,776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6B66"/>
                </a:solidFill>
              </a:defRPr>
            </a:pPr>
            <a: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A78D6"/>
                </a:solidFill>
              </a:defRPr>
            </a:pPr>
            <a:r>
              <a:t>4,334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6B66"/>
                </a:solidFill>
              </a:defRPr>
            </a:pPr>
            <a:r>
              <a:t>Avg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A78D6"/>
                </a:solidFill>
              </a:defRPr>
            </a:pPr>
            <a:r>
              <a:t>£519</a:t>
            </a:r>
          </a:p>
        </p:txBody>
      </p:sp>
      <p:pic>
        <p:nvPicPr>
          <p:cNvPr id="11" name="Picture 10" descr="bi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286000"/>
            <a:ext cx="7229139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AI analytics 1 – 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B6B66"/>
                </a:solidFill>
              </a:defRPr>
            </a:pPr>
            <a:r>
              <a:t>RFM + K-Means (k = 4): Champions = 64% of revenue from 16% of customers</a:t>
            </a:r>
          </a:p>
        </p:txBody>
      </p:sp>
      <p:pic>
        <p:nvPicPr>
          <p:cNvPr id="4" name="Picture 3" descr="rfm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32335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AI analytics 2 – key influencers and anomalies</a:t>
            </a:r>
          </a:p>
        </p:txBody>
      </p:sp>
      <p:pic>
        <p:nvPicPr>
          <p:cNvPr id="3" name="Picture 2" descr="key_influenc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846320" cy="2769326"/>
          </a:xfrm>
          <a:prstGeom prst="rect">
            <a:avLst/>
          </a:prstGeom>
        </p:spPr>
      </p:pic>
      <p:pic>
        <p:nvPicPr>
          <p:cNvPr id="4" name="Picture 3" descr="anomal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583680" cy="2304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A1A19"/>
                </a:solidFill>
              </a:defRPr>
            </a:pPr>
            <a:r>
              <a:t>Distinct products per order drive order value most.</a:t>
            </a:r>
          </a:p>
          <a:p>
            <a:pPr>
              <a:spcAft>
                <a:spcPts val="600"/>
              </a:spcAft>
              <a:defRPr sz="1800" b="0">
                <a:solidFill>
                  <a:srgbClr val="1A1A19"/>
                </a:solidFill>
              </a:defRPr>
            </a:pPr>
            <a:r>
              <a:t>13 anomalous days flagged (robust z &gt; 3.5) – review for bulk orders or promotions.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AI analytics 3 –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B6B66"/>
                </a:solidFill>
              </a:defRPr>
            </a:pPr>
            <a:r>
              <a:t>Naive 4-week mean won the hold-out (MAPE 14.9%); one year of data = no learnable seasonality</a:t>
            </a:r>
          </a:p>
        </p:txBody>
      </p:sp>
      <p:pic>
        <p:nvPicPr>
          <p:cNvPr id="4" name="Picture 3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11430000" cy="3592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Real-time BI – simulated live 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B6B66"/>
                </a:solidFill>
              </a:defRPr>
            </a:pPr>
            <a:r>
              <a:t>Historical dataset → simulated incoming transactions (Live_Sales.csv)</a:t>
            </a:r>
          </a:p>
        </p:txBody>
      </p:sp>
      <p:pic>
        <p:nvPicPr>
          <p:cNvPr id="4" name="Picture 3" descr="rea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463040"/>
            <a:ext cx="6827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Future scenario – AI-powered smart retail BI</a:t>
            </a:r>
          </a:p>
        </p:txBody>
      </p:sp>
      <p:pic>
        <p:nvPicPr>
          <p:cNvPr id="3" name="Picture 2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22392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1A19"/>
                </a:solidFill>
              </a:defRPr>
            </a:pPr>
            <a:r>
              <a:t>Monitor sales continuously · predict demand · identify top products · detect unusual patterns · interactive dashboards · support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Technology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9494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Implementation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Business benefit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AI-driven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Customer segmentation, anomaly detection,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Automated insights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Cloud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Online reporting, sharing, scheduled refresh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Anywhere access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Real-Time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Continuous monitoring of live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Faster response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Advanced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Interactive dashboards, map, drill-down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Low–Moderate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Better understanding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Qualitative ROI – traditional vs emerging BI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Traditional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Emerging BI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Data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Manual / interactive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AI-assisted (RFM, anomalies, key influencers)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Static / interactive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Interactive + automated refresh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Separate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Integrated in dashboard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Periodic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Near-real-time architecture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Collaboration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Local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Cloud-based sharing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Decision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Historical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Historical + predictive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A1A19"/>
                </a:solidFill>
              </a:defRPr>
            </a:pPr>
            <a:r>
              <a:t>• UK = 85.1% of sales; top export markets: Netherlands, EIRE, Germany.</a:t>
            </a:r>
          </a:p>
          <a:p>
            <a:pPr>
              <a:spcAft>
                <a:spcPts val="600"/>
              </a:spcAft>
              <a:defRPr sz="1800" b="0">
                <a:solidFill>
                  <a:srgbClr val="1A1A19"/>
                </a:solidFill>
              </a:defRPr>
            </a:pPr>
            <a:r>
              <a:t>• Peak month 2011-11 (£1,453,266); Nov is highest, Q4 seasonal build-up before Christmas.</a:t>
            </a:r>
          </a:p>
          <a:p>
            <a:pPr>
              <a:spcAft>
                <a:spcPts val="600"/>
              </a:spcAft>
              <a:defRPr sz="1800" b="0">
                <a:solidFill>
                  <a:srgbClr val="1A1A19"/>
                </a:solidFill>
              </a:defRPr>
            </a:pPr>
            <a:r>
              <a:t>• Top product: REGENCY CAKESTAND 3 TIER (£174,157).</a:t>
            </a:r>
          </a:p>
          <a:p>
            <a:pPr>
              <a:spcAft>
                <a:spcPts val="600"/>
              </a:spcAft>
              <a:defRPr sz="1800" b="0">
                <a:solidFill>
                  <a:srgbClr val="1A1A19"/>
                </a:solidFill>
              </a:defRPr>
            </a:pPr>
            <a:r>
              <a:t>• Champions segment = 64% of revenue from 691 customers (16% of base).</a:t>
            </a:r>
          </a:p>
          <a:p>
            <a:pPr>
              <a:spcAft>
                <a:spcPts val="600"/>
              </a:spcAft>
              <a:defRPr sz="1800" b="0">
                <a:solidFill>
                  <a:srgbClr val="1A1A19"/>
                </a:solidFill>
              </a:defRPr>
            </a:pPr>
            <a:r>
              <a:t>• 13 anomalous days detected (spikes/drops) – candidates for stock/promo/outage review.</a:t>
            </a:r>
          </a:p>
          <a:p>
            <a:pPr>
              <a:spcAft>
                <a:spcPts val="600"/>
              </a:spcAft>
              <a:defRPr sz="1800" b="0">
                <a:solidFill>
                  <a:srgbClr val="1A1A19"/>
                </a:solidFill>
              </a:defRPr>
            </a:pPr>
            <a:r>
              <a:t>• 30-day forecast ≈ £886,729 using Naive (last-4-week mean) (hold-out MAPE 14.9%); Christmas shutdown (24-Dec to 3-Jan) applied; only 1 year of history, so seasonality is not learnt – treat as indicative.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A1A1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Emerging BI extends reporting into AI-assisted analytics, predictive analysis, cloud sharing, near-real-time monitoring and interactive visualization.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Limitations: one year of history, partial last month, simulated real-time data.</a:t>
            </a:r>
          </a:p>
          <a:p>
            <a:pPr>
              <a:spcAft>
                <a:spcPts val="600"/>
              </a:spcAft>
              <a:defRPr sz="2200" b="0">
                <a:solidFill>
                  <a:srgbClr val="1A1A19"/>
                </a:solidFill>
              </a:defRPr>
            </a:pPr>
            <a:r>
              <a:t>Next: connect a live data stream, add promotion data, and use Power BI Service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